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Play" panose="020B0604020202020204" charset="0"/>
      <p:regular r:id="rId13"/>
      <p:bold r:id="rId14"/>
    </p:embeddedFont>
    <p:embeddedFont>
      <p:font typeface="Poppins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LxMYFPL6U13wdrt3sR43kqoJl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8C06543-E3CC-495D-A703-477479BDC3B9}">
  <a:tblStyle styleId="{88C06543-E3CC-495D-A703-477479BDC3B9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HNAWAZ KHAN" userId="fece3cb602db9a65" providerId="LiveId" clId="{FAD7786F-7D48-472B-AF4F-63B74398B427}"/>
    <pc:docChg chg="custSel modSld">
      <pc:chgData name="SHAHNAWAZ KHAN" userId="fece3cb602db9a65" providerId="LiveId" clId="{FAD7786F-7D48-472B-AF4F-63B74398B427}" dt="2026-07-17T11:33:26.383" v="4" actId="14100"/>
      <pc:docMkLst>
        <pc:docMk/>
      </pc:docMkLst>
      <pc:sldChg chg="addSp delSp modSp mod">
        <pc:chgData name="SHAHNAWAZ KHAN" userId="fece3cb602db9a65" providerId="LiveId" clId="{FAD7786F-7D48-472B-AF4F-63B74398B427}" dt="2026-07-17T11:33:26.383" v="4" actId="14100"/>
        <pc:sldMkLst>
          <pc:docMk/>
          <pc:sldMk cId="0" sldId="256"/>
        </pc:sldMkLst>
        <pc:picChg chg="del">
          <ac:chgData name="SHAHNAWAZ KHAN" userId="fece3cb602db9a65" providerId="LiveId" clId="{FAD7786F-7D48-472B-AF4F-63B74398B427}" dt="2026-07-17T11:33:14.362" v="0" actId="478"/>
          <ac:picMkLst>
            <pc:docMk/>
            <pc:sldMk cId="0" sldId="256"/>
            <ac:picMk id="3" creationId="{968497BB-321F-0C1C-E067-479C03D12DA2}"/>
          </ac:picMkLst>
        </pc:picChg>
        <pc:picChg chg="add mod">
          <ac:chgData name="SHAHNAWAZ KHAN" userId="fece3cb602db9a65" providerId="LiveId" clId="{FAD7786F-7D48-472B-AF4F-63B74398B427}" dt="2026-07-17T11:33:26.383" v="4" actId="14100"/>
          <ac:picMkLst>
            <pc:docMk/>
            <pc:sldMk cId="0" sldId="256"/>
            <ac:picMk id="5" creationId="{4F58CD83-31F7-6C74-A93C-92E4E8DA73C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392070D7-4E6F-ABCF-5F94-FAC20FAED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C4495973-88D4-974D-0965-DF099AD0B7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694D57A2-5FD6-D6BC-1FCB-D8D0BF7688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106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106F142B-067D-F368-11E0-36BE2136D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81A1B939-29C8-CC33-1FEE-7BC4C968E3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45B5D7B3-6102-DD5D-7A4C-69E59EF226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0148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BFD8FBF1-41A7-8C85-9542-A6230FE60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3C7F2ADE-53AB-0F83-E420-6710614257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2CACCC98-AD6B-0DF9-4A35-F67E883478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9484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68726A35-23D6-B4C5-738D-F36894DC9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051D6AB1-0FC5-7BA9-732C-FB3F159EA7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B2667FAA-4AC4-84CB-8E3C-A4696D8B27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2441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EA4CD81C-9B90-8440-096D-87E06ABCF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E4B5F242-D585-6D0B-4CF9-5384B05ABD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F45B2980-BE05-FF94-A958-B82F590363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0601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955776FA-A258-9F26-AE74-32C01495E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9182D0A7-FCD8-DEA1-9F83-22D360F0CC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409A44E8-FB49-5793-8DBE-9543D547F7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79083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B325EDB4-66F3-5B92-5893-8C74745EF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57204F86-7C3E-9025-0CA0-AB8219C3BA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48A65D2C-8FCE-9055-468A-1242639185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3748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3972EED3-3F42-3B1E-F7E6-54D2A5E33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34E44C0D-E00F-D54D-5455-9BB26268DE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38289C71-C463-0818-BA5D-E816039666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35394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933FFB39-4DAC-8081-FF0F-4E29246B8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0979C63C-E90E-D0C8-F4EB-7FAB1FF521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B645642B-5B64-486A-A4C0-A30CF19530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9588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 descr="Scatterplot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1099279" y="1111763"/>
            <a:ext cx="1299148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SQL Queries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" descr="A white text on a black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 descr="A yellow circle with black lines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4DCB39-F4DC-7E8D-8B50-6D1D14B0F094}"/>
              </a:ext>
            </a:extLst>
          </p:cNvPr>
          <p:cNvSpPr txBox="1"/>
          <p:nvPr/>
        </p:nvSpPr>
        <p:spPr>
          <a:xfrm>
            <a:off x="3114762" y="147033"/>
            <a:ext cx="8143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1. Retrieve all successful bookings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58CD83-31F7-6C74-A93C-92E4E8DA73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2983" y="725183"/>
            <a:ext cx="8226729" cy="44850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9C4D2700-F9F9-0A67-4EC0-D7CE838B8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1FF92328-E8C2-5539-D731-85AE25B2B7E9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BB9631F7-A540-1D29-8A89-14064499C7D2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D7A263CC-F518-5814-D4B5-4A34BFC16428}"/>
              </a:ext>
            </a:extLst>
          </p:cNvPr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 descr="Scatterplot with solid fill">
            <a:extLst>
              <a:ext uri="{FF2B5EF4-FFF2-40B4-BE49-F238E27FC236}">
                <a16:creationId xmlns:a16="http://schemas.microsoft.com/office/drawing/2014/main" id="{2D10810D-7979-EC0E-A22F-E9F93A6F2C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5F28887D-FE80-1449-39BC-1E60B36255E3}"/>
              </a:ext>
            </a:extLst>
          </p:cNvPr>
          <p:cNvSpPr txBox="1"/>
          <p:nvPr/>
        </p:nvSpPr>
        <p:spPr>
          <a:xfrm>
            <a:off x="1099279" y="1111763"/>
            <a:ext cx="1299148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SQL Queries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E7B573F-5E07-9ED5-2FBA-1C6EE2B3474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64C1C023-F341-9F19-3304-C1DED8FCDD8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D91FB5-22F8-EAAA-7EEF-6B78115812A9}"/>
              </a:ext>
            </a:extLst>
          </p:cNvPr>
          <p:cNvSpPr txBox="1"/>
          <p:nvPr/>
        </p:nvSpPr>
        <p:spPr>
          <a:xfrm>
            <a:off x="3114762" y="147033"/>
            <a:ext cx="81431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2. Find the average ride distance for each vehicle type</a:t>
            </a:r>
            <a:endParaRPr lang="en-IN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99622E-09D7-B150-2563-EDFC49F780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2983" y="862956"/>
            <a:ext cx="7623861" cy="424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784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858CA5A8-3B4F-898E-C7F5-391A3D568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6D3EAFBD-1DBD-70F7-3F66-B937AFB0CE5A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C1581A7D-2643-8714-FC43-35A1CC50831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B66E929C-D9F8-DB9D-4CFB-870DDD378EA9}"/>
              </a:ext>
            </a:extLst>
          </p:cNvPr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 descr="Scatterplot with solid fill">
            <a:extLst>
              <a:ext uri="{FF2B5EF4-FFF2-40B4-BE49-F238E27FC236}">
                <a16:creationId xmlns:a16="http://schemas.microsoft.com/office/drawing/2014/main" id="{75BC33A2-5CC0-0BD5-3EF0-61062F8E8E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E25BD743-131E-7196-CA91-4BFD661A1CA6}"/>
              </a:ext>
            </a:extLst>
          </p:cNvPr>
          <p:cNvSpPr txBox="1"/>
          <p:nvPr/>
        </p:nvSpPr>
        <p:spPr>
          <a:xfrm>
            <a:off x="1099279" y="1111763"/>
            <a:ext cx="1299148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SQL Queries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CA2296C2-CD3E-F510-2DA2-0A7BA347460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A29FB94B-E099-2530-F28E-63DFDE477BF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B8D82F-7AA7-2935-89E3-39891EF28374}"/>
              </a:ext>
            </a:extLst>
          </p:cNvPr>
          <p:cNvSpPr txBox="1"/>
          <p:nvPr/>
        </p:nvSpPr>
        <p:spPr>
          <a:xfrm>
            <a:off x="3114762" y="179363"/>
            <a:ext cx="81431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3. Get the total number of cancelled rides by customers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7DF418-3C7F-972D-C6E7-77351A4DA2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2984" y="774717"/>
            <a:ext cx="7337037" cy="353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63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C0AEC803-15C7-14BE-B281-10D39E6B4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3F9C7518-9C9A-D348-0E2B-C089C5561FED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480E50EC-277E-B49D-82E9-4CC02D8B1BF6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43C97BDE-4375-13DB-7758-5643DFA2E56F}"/>
              </a:ext>
            </a:extLst>
          </p:cNvPr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 descr="Scatterplot with solid fill">
            <a:extLst>
              <a:ext uri="{FF2B5EF4-FFF2-40B4-BE49-F238E27FC236}">
                <a16:creationId xmlns:a16="http://schemas.microsoft.com/office/drawing/2014/main" id="{1034CC26-38D1-A0E3-A1C4-662F210450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CF83F8B1-DC4F-EC9F-561C-DF2FF1EA254E}"/>
              </a:ext>
            </a:extLst>
          </p:cNvPr>
          <p:cNvSpPr txBox="1"/>
          <p:nvPr/>
        </p:nvSpPr>
        <p:spPr>
          <a:xfrm>
            <a:off x="1099279" y="1111763"/>
            <a:ext cx="1299148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SQL Queries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F3D95AF0-F97E-68F7-79A2-D7FED968056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D192F9AB-CF2F-4489-ADFC-083BE549A25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13C2DA-D81C-73CA-FBB6-CA53D1FDB57D}"/>
              </a:ext>
            </a:extLst>
          </p:cNvPr>
          <p:cNvSpPr txBox="1"/>
          <p:nvPr/>
        </p:nvSpPr>
        <p:spPr>
          <a:xfrm>
            <a:off x="3114762" y="147033"/>
            <a:ext cx="81431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4. List the top 5 customers who booked the highest number of rides</a:t>
            </a:r>
            <a:br>
              <a:rPr lang="en-US" sz="2000" dirty="0"/>
            </a:b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333C8C-988A-255E-5A6F-E1C2C07924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2984" y="689104"/>
            <a:ext cx="7978982" cy="418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878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EC161CCB-2EB2-94EC-0524-F65B2BD82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4606FD64-B50B-62B3-C2B0-B4320751F555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CDE08120-5D37-90BF-2537-D2017E63A891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A8A82B19-86EA-3F84-E199-5552392B583C}"/>
              </a:ext>
            </a:extLst>
          </p:cNvPr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 descr="Scatterplot with solid fill">
            <a:extLst>
              <a:ext uri="{FF2B5EF4-FFF2-40B4-BE49-F238E27FC236}">
                <a16:creationId xmlns:a16="http://schemas.microsoft.com/office/drawing/2014/main" id="{6C0D6E59-0EA1-A1FA-07B3-1E29D322BAA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3D6D6442-BB9C-DF8B-0527-1179BCD6DFB0}"/>
              </a:ext>
            </a:extLst>
          </p:cNvPr>
          <p:cNvSpPr txBox="1"/>
          <p:nvPr/>
        </p:nvSpPr>
        <p:spPr>
          <a:xfrm>
            <a:off x="1099279" y="1111763"/>
            <a:ext cx="1299148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SQL Queries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580720BF-3AE1-31B7-B1E7-DF9C2065C7E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225B8FED-BD20-753D-F8D1-7351EC37434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754CE0-3ABE-C72D-C470-DCCF4E5DC16A}"/>
              </a:ext>
            </a:extLst>
          </p:cNvPr>
          <p:cNvSpPr txBox="1"/>
          <p:nvPr/>
        </p:nvSpPr>
        <p:spPr>
          <a:xfrm>
            <a:off x="3114762" y="147033"/>
            <a:ext cx="81431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5. Get the number of rides cancelled by drivers due to personal and car-related issues</a:t>
            </a:r>
          </a:p>
          <a:p>
            <a:br>
              <a:rPr lang="en-US" sz="1600" dirty="0"/>
            </a:br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93A45A-5D87-4123-EFE4-E93D114D61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2984" y="751855"/>
            <a:ext cx="8646709" cy="347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703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EB3B921C-13DD-7832-0BAD-095A57946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80382022-FB75-6C39-F3B3-B0356184D456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BB02AD00-C916-4094-1521-47061A572B90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4D7ED8A9-50E2-EDCD-7264-48585C0F5ADE}"/>
              </a:ext>
            </a:extLst>
          </p:cNvPr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 descr="Scatterplot with solid fill">
            <a:extLst>
              <a:ext uri="{FF2B5EF4-FFF2-40B4-BE49-F238E27FC236}">
                <a16:creationId xmlns:a16="http://schemas.microsoft.com/office/drawing/2014/main" id="{3206BC8E-DA7F-686C-033B-793FD423F5D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77830BFC-AE7D-1576-147D-4291764215D7}"/>
              </a:ext>
            </a:extLst>
          </p:cNvPr>
          <p:cNvSpPr txBox="1"/>
          <p:nvPr/>
        </p:nvSpPr>
        <p:spPr>
          <a:xfrm>
            <a:off x="1099279" y="1111763"/>
            <a:ext cx="1299148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SQL Queries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95003DF3-3B17-D275-604C-FE08FB1EEEB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17154087-9FBA-0899-A168-7F734A7A83D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A1885E-F545-179C-DD41-4DD0D40D5248}"/>
              </a:ext>
            </a:extLst>
          </p:cNvPr>
          <p:cNvSpPr txBox="1"/>
          <p:nvPr/>
        </p:nvSpPr>
        <p:spPr>
          <a:xfrm>
            <a:off x="3114762" y="147033"/>
            <a:ext cx="8143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6. Find the maximum and minimum driver ratings for Prime Sedan bookings</a:t>
            </a: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A1D613-31E8-479F-0FB2-2481C2CFD3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2983" y="736614"/>
            <a:ext cx="8816875" cy="398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077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D71680C4-A039-4C45-A8B4-28BF6FB78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B1CA4DA0-7304-6FF5-4493-0FCDDA2D0D7B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B5FD2687-2F10-884D-AE63-980BDAA0DC89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6638F839-9A00-35B3-4AD2-94D67DE103C6}"/>
              </a:ext>
            </a:extLst>
          </p:cNvPr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 descr="Scatterplot with solid fill">
            <a:extLst>
              <a:ext uri="{FF2B5EF4-FFF2-40B4-BE49-F238E27FC236}">
                <a16:creationId xmlns:a16="http://schemas.microsoft.com/office/drawing/2014/main" id="{89586114-1B11-F5B2-D275-B163A42AF4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29C10375-BB37-E9F5-33AC-C94F945737B6}"/>
              </a:ext>
            </a:extLst>
          </p:cNvPr>
          <p:cNvSpPr txBox="1"/>
          <p:nvPr/>
        </p:nvSpPr>
        <p:spPr>
          <a:xfrm>
            <a:off x="1099279" y="1111763"/>
            <a:ext cx="1299148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SQL Queries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8A6D6764-66BB-A9BD-8C79-A663C6A1882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CD4D8F28-88B5-E1FC-0116-6B20FA2CEB3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B323E3-0367-0AB1-9228-9B0710D49816}"/>
              </a:ext>
            </a:extLst>
          </p:cNvPr>
          <p:cNvSpPr txBox="1"/>
          <p:nvPr/>
        </p:nvSpPr>
        <p:spPr>
          <a:xfrm>
            <a:off x="3114762" y="147033"/>
            <a:ext cx="81431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7. Retrieve all rides where payment was made using UPI</a:t>
            </a: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FFB338-745E-527F-3C94-80B96C206B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2984" y="652787"/>
            <a:ext cx="6749442" cy="393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371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5BBC00F9-8990-CABA-1AE7-2E7056F60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6FD982EF-AAEF-AC20-3F45-0E40A6FCA379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F3853466-127D-EA81-59CC-4AC20AA3E149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48A6E132-3DE4-5B1F-4DBF-A2FA1DADF255}"/>
              </a:ext>
            </a:extLst>
          </p:cNvPr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 descr="Scatterplot with solid fill">
            <a:extLst>
              <a:ext uri="{FF2B5EF4-FFF2-40B4-BE49-F238E27FC236}">
                <a16:creationId xmlns:a16="http://schemas.microsoft.com/office/drawing/2014/main" id="{90FF29A5-50B4-2B90-BC44-A3405AB355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8D624B73-A23B-9E46-9ABE-D2E587608E7A}"/>
              </a:ext>
            </a:extLst>
          </p:cNvPr>
          <p:cNvSpPr txBox="1"/>
          <p:nvPr/>
        </p:nvSpPr>
        <p:spPr>
          <a:xfrm>
            <a:off x="1099279" y="1111763"/>
            <a:ext cx="1299148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SQL Queries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EE1AAEB-8894-AFDF-3BD0-184CD892D9C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F4465280-1288-61A6-52E9-9E234C16528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87CF1B-BECA-E655-D8BD-D8324418B5A9}"/>
              </a:ext>
            </a:extLst>
          </p:cNvPr>
          <p:cNvSpPr txBox="1"/>
          <p:nvPr/>
        </p:nvSpPr>
        <p:spPr>
          <a:xfrm>
            <a:off x="3114762" y="147033"/>
            <a:ext cx="81431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8. Find the average customer rating per vehicle type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365F92-1AC6-A070-F8FB-5103025C62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2984" y="608698"/>
            <a:ext cx="7073906" cy="512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92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19851509-80FE-F92C-4B81-7E0E18EF6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1F2AC2BC-C03C-F2F3-FA51-34EDFAF1C8BC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A00788CD-AC40-0385-105C-4E7F099700D4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2ADDFEF0-5EF9-68CF-D7B6-7532B50A2FAC}"/>
              </a:ext>
            </a:extLst>
          </p:cNvPr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 descr="Scatterplot with solid fill">
            <a:extLst>
              <a:ext uri="{FF2B5EF4-FFF2-40B4-BE49-F238E27FC236}">
                <a16:creationId xmlns:a16="http://schemas.microsoft.com/office/drawing/2014/main" id="{30373E0C-8301-2998-8D93-C8A4A343B0A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4D0CB3C3-3291-347E-4DA3-C3B9AC4B349A}"/>
              </a:ext>
            </a:extLst>
          </p:cNvPr>
          <p:cNvSpPr txBox="1"/>
          <p:nvPr/>
        </p:nvSpPr>
        <p:spPr>
          <a:xfrm>
            <a:off x="1099279" y="1111763"/>
            <a:ext cx="1299148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SQL Queries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E3283EB-3342-B925-99A1-DA24B241C46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1928251B-B071-BB81-5EF0-0C040A9CECF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410645-F3A6-FCD2-3A05-85C1C8675A66}"/>
              </a:ext>
            </a:extLst>
          </p:cNvPr>
          <p:cNvSpPr txBox="1"/>
          <p:nvPr/>
        </p:nvSpPr>
        <p:spPr>
          <a:xfrm>
            <a:off x="3114762" y="147033"/>
            <a:ext cx="81431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9. Calculate the total booking value of rides completed successfully</a:t>
            </a:r>
          </a:p>
          <a:p>
            <a:br>
              <a:rPr lang="en-US" sz="2000" dirty="0"/>
            </a:b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A32E92-52E6-7E46-C85B-2A9B2003CE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2984" y="862956"/>
            <a:ext cx="8064588" cy="416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806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BB262DA1-9A08-CF5C-1F37-59A0E1BC3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2D27F14D-B353-2FC5-C9C9-F550D75850AE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FCF5B18D-9F2C-14C8-AC4B-700EDF008982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65957B79-03D6-DE98-AE29-8F702FF17242}"/>
              </a:ext>
            </a:extLst>
          </p:cNvPr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 descr="Scatterplot with solid fill">
            <a:extLst>
              <a:ext uri="{FF2B5EF4-FFF2-40B4-BE49-F238E27FC236}">
                <a16:creationId xmlns:a16="http://schemas.microsoft.com/office/drawing/2014/main" id="{7431B581-37F0-6D4A-1F47-DCC5A55CBE7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3C6C5AB4-EFB0-0B4B-AED1-794BB39894AC}"/>
              </a:ext>
            </a:extLst>
          </p:cNvPr>
          <p:cNvSpPr txBox="1"/>
          <p:nvPr/>
        </p:nvSpPr>
        <p:spPr>
          <a:xfrm>
            <a:off x="1099279" y="1111763"/>
            <a:ext cx="1299148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SQL Queries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04C1A613-F750-38AC-4798-FF4D143F74F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2638E918-D865-7BA6-13A4-7467803673E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6308C3-E715-98C4-45C9-B6E95D0BA5FA}"/>
              </a:ext>
            </a:extLst>
          </p:cNvPr>
          <p:cNvSpPr txBox="1"/>
          <p:nvPr/>
        </p:nvSpPr>
        <p:spPr>
          <a:xfrm>
            <a:off x="3114762" y="147033"/>
            <a:ext cx="8143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10. List all incomplete rides along with the reason</a:t>
            </a: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D46396-631A-BF11-ADC3-DB64774B88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2984" y="756280"/>
            <a:ext cx="7830990" cy="561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705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136</Words>
  <Application>Microsoft Office PowerPoint</Application>
  <PresentationFormat>Widescreen</PresentationFormat>
  <Paragraphs>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Poppins</vt:lpstr>
      <vt:lpstr>Arial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Vishal Gajanan</dc:creator>
  <cp:lastModifiedBy>SHAHNAWAZ KHAN</cp:lastModifiedBy>
  <cp:revision>3</cp:revision>
  <dcterms:created xsi:type="dcterms:W3CDTF">2024-10-05T18:58:27Z</dcterms:created>
  <dcterms:modified xsi:type="dcterms:W3CDTF">2026-07-17T11:33:29Z</dcterms:modified>
</cp:coreProperties>
</file>